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0F1A"/>
          </a:solidFill>
          <a:ln>
            <a:solidFill>
              <a:srgbClr val="0D0F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120640" cy="685800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120640" y="0"/>
            <a:ext cx="50800" cy="6858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45720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0" i="0">
                <a:solidFill>
                  <a:srgbClr val="E2E8F0"/>
                </a:solidFill>
                <a:latin typeface="Calibri"/>
              </a:rPr>
              <a:t>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554480"/>
            <a:ext cx="4389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E0E7FF"/>
                </a:solidFill>
                <a:latin typeface="Calibri"/>
              </a:rPr>
              <a:t>RedRob AI</a:t>
            </a:r>
          </a:p>
          <a:p>
            <a:pPr algn="l"/>
            <a:r>
              <a:rPr sz="3800" b="1" i="0">
                <a:solidFill>
                  <a:srgbClr val="FFFFFF"/>
                </a:solidFill>
                <a:latin typeface="Calibri"/>
              </a:rPr>
              <a:t>Candidate Ranker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92608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94A3B8"/>
                </a:solidFill>
                <a:latin typeface="Calibri"/>
              </a:rPr>
              <a:t>Intelligent, explainable, fresher-friendly candidate ranking
without keyword matching — and without any external APIs.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577840" y="1097280"/>
            <a:ext cx="2926080" cy="1143000"/>
          </a:xfrm>
          <a:prstGeom prst="rect">
            <a:avLst/>
          </a:prstGeom>
          <a:solidFill>
            <a:srgbClr val="1E253B"/>
          </a:solidFill>
          <a:ln>
            <a:solidFill>
              <a:srgbClr val="1E25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596890" y="1116330"/>
            <a:ext cx="2887980" cy="110490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77840" y="1170432"/>
            <a:ext cx="2926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A78BFA"/>
                </a:solidFill>
                <a:latin typeface="Calibri"/>
              </a:rPr>
              <a:t>89,788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77840" y="17373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94A3B8"/>
                </a:solidFill>
                <a:latin typeface="Calibri"/>
              </a:rPr>
              <a:t>Candidates Ranked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778240" y="1097280"/>
            <a:ext cx="2926080" cy="1143000"/>
          </a:xfrm>
          <a:prstGeom prst="rect">
            <a:avLst/>
          </a:prstGeom>
          <a:solidFill>
            <a:srgbClr val="1E253B"/>
          </a:solidFill>
          <a:ln>
            <a:solidFill>
              <a:srgbClr val="1E25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797290" y="1116330"/>
            <a:ext cx="2887980" cy="110490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0" y="1170432"/>
            <a:ext cx="2926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A78BFA"/>
                </a:solidFill>
                <a:latin typeface="Calibri"/>
              </a:rPr>
              <a:t>712/s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0" y="17373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94A3B8"/>
                </a:solidFill>
                <a:latin typeface="Calibri"/>
              </a:rPr>
              <a:t>Throughput (CPU)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577840" y="2468880"/>
            <a:ext cx="2926080" cy="1143000"/>
          </a:xfrm>
          <a:prstGeom prst="rect">
            <a:avLst/>
          </a:prstGeom>
          <a:solidFill>
            <a:srgbClr val="1E253B"/>
          </a:solidFill>
          <a:ln>
            <a:solidFill>
              <a:srgbClr val="1E25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596890" y="2487930"/>
            <a:ext cx="2887980" cy="110490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577840" y="2542032"/>
            <a:ext cx="2926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59E0B"/>
                </a:solidFill>
                <a:latin typeface="Calibri"/>
              </a:rPr>
              <a:t>30/100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77840" y="31089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94A3B8"/>
                </a:solidFill>
                <a:latin typeface="Calibri"/>
              </a:rPr>
              <a:t>Fresher Slots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778240" y="2468880"/>
            <a:ext cx="2926080" cy="1143000"/>
          </a:xfrm>
          <a:prstGeom prst="rect">
            <a:avLst/>
          </a:prstGeom>
          <a:solidFill>
            <a:srgbClr val="1E253B"/>
          </a:solidFill>
          <a:ln>
            <a:solidFill>
              <a:srgbClr val="1E25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797290" y="2487930"/>
            <a:ext cx="2887980" cy="110490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78240" y="2542032"/>
            <a:ext cx="2926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59E0B"/>
                </a:solidFill>
                <a:latin typeface="Calibri"/>
              </a:rPr>
              <a:t>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78240" y="31089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94A3B8"/>
                </a:solidFill>
                <a:latin typeface="Calibri"/>
              </a:rPr>
              <a:t>API Calls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30936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  <a:latin typeface="Calibri"/>
              </a:rPr>
              <a:t>RedRob AI Challenge  |  Dabbara Santhosh Kumar  |  github.com/Santhu7718/redrob-ai-ranker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0F1A"/>
          </a:solidFill>
          <a:ln>
            <a:solidFill>
              <a:srgbClr val="0D0F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88952" cy="38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0E7FF"/>
                </a:solidFill>
                <a:latin typeface="Calibri"/>
              </a:rPr>
              <a:t>Solution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94A3B8"/>
                </a:solidFill>
                <a:latin typeface="Calibri"/>
              </a:rPr>
              <a:t>What was built · How it differs from traditional systems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325880"/>
            <a:ext cx="5577840" cy="2926080"/>
          </a:xfrm>
          <a:prstGeom prst="rect">
            <a:avLst/>
          </a:prstGeom>
          <a:solidFill>
            <a:srgbClr val="1E253B"/>
          </a:solidFill>
          <a:ln>
            <a:solidFill>
              <a:srgbClr val="1E25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39090" y="1344930"/>
            <a:ext cx="5539740" cy="288798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417320"/>
            <a:ext cx="530352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Calibri"/>
              </a:rPr>
              <a:t>What We Built</a:t>
            </a:r>
          </a:p>
          <a:p>
            <a:pPr algn="l">
              <a:spcBef>
                <a:spcPts val="300"/>
              </a:spcBef>
            </a:pPr>
            <a:r>
              <a:rPr sz="1050" b="0" i="0">
                <a:solidFill>
                  <a:srgbClr val="E2E8F0"/>
                </a:solidFill>
                <a:latin typeface="Calibri"/>
              </a:rPr>
              <a:t>▸  A rule-based multi-signal hybrid scoring engine</a:t>
            </a:r>
          </a:p>
          <a:p>
            <a:pPr algn="l">
              <a:spcBef>
                <a:spcPts val="300"/>
              </a:spcBef>
            </a:pPr>
            <a:r>
              <a:rPr sz="1050" b="0" i="0">
                <a:solidFill>
                  <a:srgbClr val="E2E8F0"/>
                </a:solidFill>
                <a:latin typeface="Calibri"/>
              </a:rPr>
              <a:t>▸  Ranks 89,788 candidates in ~126 seconds on CPU alone</a:t>
            </a:r>
          </a:p>
          <a:p>
            <a:pPr algn="l">
              <a:spcBef>
                <a:spcPts val="300"/>
              </a:spcBef>
            </a:pPr>
            <a:r>
              <a:rPr sz="1050" b="0" i="0">
                <a:solidFill>
                  <a:srgbClr val="E2E8F0"/>
                </a:solidFill>
                <a:latin typeface="Calibri"/>
              </a:rPr>
              <a:t>▸  Fully offline — zero API calls, zero GPU required</a:t>
            </a:r>
          </a:p>
          <a:p>
            <a:pPr algn="l">
              <a:spcBef>
                <a:spcPts val="300"/>
              </a:spcBef>
            </a:pPr>
            <a:r>
              <a:rPr sz="1050" b="0" i="0">
                <a:solidFill>
                  <a:srgbClr val="E2E8F0"/>
                </a:solidFill>
                <a:latin typeface="Calibri"/>
              </a:rPr>
              <a:t>▸  Streamlit web UI: upload any file → get ranked shortlist</a:t>
            </a:r>
          </a:p>
          <a:p>
            <a:pPr algn="l">
              <a:spcBef>
                <a:spcPts val="300"/>
              </a:spcBef>
            </a:pPr>
            <a:r>
              <a:rPr sz="1050" b="0" i="0">
                <a:solidFill>
                  <a:srgbClr val="E2E8F0"/>
                </a:solidFill>
                <a:latin typeface="Calibri"/>
              </a:rPr>
              <a:t>▸  Dual-track system guarantees fresher representation</a:t>
            </a:r>
          </a:p>
          <a:p>
            <a:pPr algn="l">
              <a:spcBef>
                <a:spcPts val="300"/>
              </a:spcBef>
            </a:pPr>
            <a:r>
              <a:rPr sz="1050" b="0" i="0">
                <a:solidFill>
                  <a:srgbClr val="E2E8F0"/>
                </a:solidFill>
                <a:latin typeface="Calibri"/>
              </a:rPr>
              <a:t>▸  Every score is 100% auditable and explainable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1325880"/>
            <a:ext cx="5715000" cy="2926080"/>
          </a:xfrm>
          <a:prstGeom prst="rect">
            <a:avLst/>
          </a:prstGeom>
          <a:solidFill>
            <a:srgbClr val="1E253B"/>
          </a:solidFill>
          <a:ln>
            <a:solidFill>
              <a:srgbClr val="1E25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45530" y="1344930"/>
            <a:ext cx="5676900" cy="288798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3640" y="1417320"/>
            <a:ext cx="544068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2C55E"/>
                </a:solidFill>
                <a:latin typeface="Calibri"/>
              </a:rPr>
              <a:t>What Makes This Different</a:t>
            </a:r>
          </a:p>
          <a:p>
            <a:pPr algn="l">
              <a:spcBef>
                <a:spcPts val="300"/>
              </a:spcBef>
            </a:pPr>
            <a:r>
              <a:rPr sz="1050" b="0" i="0">
                <a:solidFill>
                  <a:srgbClr val="E2E8F0"/>
                </a:solidFill>
                <a:latin typeface="Calibri"/>
              </a:rPr>
              <a:t>▸  Not keyword matching — trust-weighted skill scoring</a:t>
            </a:r>
          </a:p>
          <a:p>
            <a:pPr algn="l">
              <a:spcBef>
                <a:spcPts val="300"/>
              </a:spcBef>
            </a:pPr>
            <a:r>
              <a:rPr sz="1050" b="0" i="0">
                <a:solidFill>
                  <a:srgbClr val="E2E8F0"/>
                </a:solidFill>
                <a:latin typeface="Calibri"/>
              </a:rPr>
              <a:t>▸  Endorsement + duration required to claim a skill</a:t>
            </a:r>
          </a:p>
          <a:p>
            <a:pPr algn="l">
              <a:spcBef>
                <a:spcPts val="300"/>
              </a:spcBef>
            </a:pPr>
            <a:r>
              <a:rPr sz="1050" b="0" i="0">
                <a:solidFill>
                  <a:srgbClr val="E2E8F0"/>
                </a:solidFill>
                <a:latin typeface="Calibri"/>
              </a:rPr>
              <a:t>▸  Career text-mining finds implicit expertise</a:t>
            </a:r>
          </a:p>
          <a:p>
            <a:pPr algn="l">
              <a:spcBef>
                <a:spcPts val="300"/>
              </a:spcBef>
            </a:pPr>
            <a:r>
              <a:rPr sz="1050" b="0" i="0">
                <a:solidFill>
                  <a:srgbClr val="E2E8F0"/>
                </a:solidFill>
                <a:latin typeface="Calibri"/>
              </a:rPr>
              <a:t>▸  YoE curve penalises over-experience, rewards potential</a:t>
            </a:r>
          </a:p>
          <a:p>
            <a:pPr algn="l">
              <a:spcBef>
                <a:spcPts val="300"/>
              </a:spcBef>
            </a:pPr>
            <a:r>
              <a:rPr sz="1050" b="0" i="0">
                <a:solidFill>
                  <a:srgbClr val="E2E8F0"/>
                </a:solidFill>
                <a:latin typeface="Calibri"/>
              </a:rPr>
              <a:t>▸  Services firm penalty (TCS/Infosys with no real ML work)</a:t>
            </a:r>
          </a:p>
          <a:p>
            <a:pPr algn="l">
              <a:spcBef>
                <a:spcPts val="300"/>
              </a:spcBef>
            </a:pPr>
            <a:r>
              <a:rPr sz="1050" b="0" i="0">
                <a:solidFill>
                  <a:srgbClr val="E2E8F0"/>
                </a:solidFill>
                <a:latin typeface="Calibri"/>
              </a:rPr>
              <a:t>▸  Behavioral signals: inactive candidates deprioritised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4434840"/>
            <a:ext cx="11521440" cy="36576"/>
          </a:xfrm>
          <a:prstGeom prst="rect">
            <a:avLst/>
          </a:prstGeom>
          <a:solidFill>
            <a:srgbClr val="1E253B"/>
          </a:solidFill>
          <a:ln>
            <a:solidFill>
              <a:srgbClr val="1E25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" y="4526280"/>
            <a:ext cx="3749039" cy="1234440"/>
          </a:xfrm>
          <a:prstGeom prst="rect">
            <a:avLst/>
          </a:prstGeom>
          <a:solidFill>
            <a:srgbClr val="1E253B"/>
          </a:solidFill>
          <a:ln>
            <a:solidFill>
              <a:srgbClr val="1E25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9090" y="4545330"/>
            <a:ext cx="3710939" cy="119634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0040" y="4526280"/>
            <a:ext cx="3749039" cy="381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9768" y="4626864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F4444"/>
                </a:solidFill>
                <a:latin typeface="Calibri"/>
              </a:rPr>
              <a:t>Traditional ATS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" y="4937760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Keywords only · Binary match · No reasoning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51960" y="4526280"/>
            <a:ext cx="3749039" cy="1234440"/>
          </a:xfrm>
          <a:prstGeom prst="rect">
            <a:avLst/>
          </a:prstGeom>
          <a:solidFill>
            <a:srgbClr val="1E253B"/>
          </a:solidFill>
          <a:ln>
            <a:solidFill>
              <a:srgbClr val="1E25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271010" y="4545330"/>
            <a:ext cx="3710939" cy="119634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51960" y="4526280"/>
            <a:ext cx="3749039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61688" y="4626864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  <a:latin typeface="Calibri"/>
              </a:rPr>
              <a:t>Vector Search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61688" y="4937760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Semantic match · Still no signal fusion · Black box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83880" y="4526280"/>
            <a:ext cx="3749039" cy="1234440"/>
          </a:xfrm>
          <a:prstGeom prst="rect">
            <a:avLst/>
          </a:prstGeom>
          <a:solidFill>
            <a:srgbClr val="1E253B"/>
          </a:solidFill>
          <a:ln>
            <a:solidFill>
              <a:srgbClr val="1E25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02930" y="4545330"/>
            <a:ext cx="3710939" cy="119634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83880" y="4526280"/>
            <a:ext cx="3749039" cy="381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93608" y="4626864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2C55E"/>
                </a:solidFill>
                <a:latin typeface="Calibri"/>
              </a:rPr>
              <a:t>Our Approach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93608" y="4937760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6 signals · Trust-weighted · Fresher uplift · Explainable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0F1A"/>
          </a:solidFill>
          <a:ln>
            <a:solidFill>
              <a:srgbClr val="0D0F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88952" cy="38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0E7FF"/>
                </a:solidFill>
                <a:latin typeface="Calibri"/>
              </a:rPr>
              <a:t>JD Understanding &amp; Candidate Evaluation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94A3B8"/>
                </a:solidFill>
                <a:latin typeface="Calibri"/>
              </a:rPr>
              <a:t>What the role demands · Which signals matter most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325880"/>
            <a:ext cx="5577840" cy="2651760"/>
          </a:xfrm>
          <a:prstGeom prst="rect">
            <a:avLst/>
          </a:prstGeom>
          <a:solidFill>
            <a:srgbClr val="1E253B"/>
          </a:solidFill>
          <a:ln>
            <a:solidFill>
              <a:srgbClr val="1E25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39090" y="1344930"/>
            <a:ext cx="5539740" cy="261366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417320"/>
            <a:ext cx="530352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  <a:latin typeface="Calibri"/>
              </a:rPr>
              <a:t>Key Requirements Extracted from JD</a:t>
            </a:r>
          </a:p>
          <a:p>
            <a:pPr algn="l">
              <a:spcBef>
                <a:spcPts val="300"/>
              </a:spcBef>
            </a:pPr>
            <a:r>
              <a:rPr sz="1050" b="0" i="0">
                <a:solidFill>
                  <a:srgbClr val="E2E8F0"/>
                </a:solidFill>
                <a:latin typeface="Calibri"/>
              </a:rPr>
              <a:t>▸  55 critical skills parsed (Python · PyTorch · TensorFlow · NLP · BERT · Transformers)</a:t>
            </a:r>
          </a:p>
          <a:p>
            <a:pPr algn="l">
              <a:spcBef>
                <a:spcPts val="300"/>
              </a:spcBef>
            </a:pPr>
            <a:r>
              <a:rPr sz="1050" b="0" i="0">
                <a:solidFill>
                  <a:srgbClr val="E2E8F0"/>
                </a:solidFill>
                <a:latin typeface="Calibri"/>
              </a:rPr>
              <a:t>▸  32 preferred skills (FastAPI · Docker · Kubernetes · Spark · SQL)</a:t>
            </a:r>
          </a:p>
          <a:p>
            <a:pPr algn="l">
              <a:spcBef>
                <a:spcPts val="300"/>
              </a:spcBef>
            </a:pPr>
            <a:r>
              <a:rPr sz="1050" b="0" i="0">
                <a:solidFill>
                  <a:srgbClr val="E2E8F0"/>
                </a:solidFill>
                <a:latin typeface="Calibri"/>
              </a:rPr>
              <a:t>▸  High-value ML skills: LoRA · QLoRA · PEFT · RAG · FAISS · Qdrant · Pinecone</a:t>
            </a:r>
          </a:p>
          <a:p>
            <a:pPr algn="l">
              <a:spcBef>
                <a:spcPts val="300"/>
              </a:spcBef>
            </a:pPr>
            <a:r>
              <a:rPr sz="1050" b="0" i="0">
                <a:solidFill>
                  <a:srgbClr val="E2E8F0"/>
                </a:solidFill>
                <a:latin typeface="Calibri"/>
              </a:rPr>
              <a:t>▸  Location signal: India-based preferred, no hard block</a:t>
            </a:r>
          </a:p>
          <a:p>
            <a:pPr algn="l">
              <a:spcBef>
                <a:spcPts val="300"/>
              </a:spcBef>
            </a:pPr>
            <a:r>
              <a:rPr sz="1050" b="0" i="0">
                <a:solidFill>
                  <a:srgbClr val="E2E8F0"/>
                </a:solidFill>
                <a:latin typeface="Calibri"/>
              </a:rPr>
              <a:t>▸  Implicit red flags: keyword-stuffed CVs, TCS-style zero-ML experience</a:t>
            </a:r>
          </a:p>
          <a:p>
            <a:pPr algn="l">
              <a:spcBef>
                <a:spcPts val="300"/>
              </a:spcBef>
            </a:pPr>
            <a:r>
              <a:rPr sz="1050" b="0" i="0">
                <a:solidFill>
                  <a:srgbClr val="E2E8F0"/>
                </a:solidFill>
                <a:latin typeface="Calibri"/>
              </a:rPr>
              <a:t>▸  Extracted via regex + curated ontology from job_description.docx — no LLM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1325880"/>
            <a:ext cx="5715000" cy="2651760"/>
          </a:xfrm>
          <a:prstGeom prst="rect">
            <a:avLst/>
          </a:prstGeom>
          <a:solidFill>
            <a:srgbClr val="1E253B"/>
          </a:solidFill>
          <a:ln>
            <a:solidFill>
              <a:srgbClr val="1E25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45530" y="1344930"/>
            <a:ext cx="5676900" cy="261366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3640" y="1417320"/>
            <a:ext cx="544068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Calibri"/>
              </a:rPr>
              <a:t>Candidate Signals Beyond Keywords</a:t>
            </a:r>
          </a:p>
          <a:p>
            <a:pPr algn="l">
              <a:spcBef>
                <a:spcPts val="300"/>
              </a:spcBef>
            </a:pPr>
            <a:r>
              <a:rPr sz="1050" b="0" i="0">
                <a:solidFill>
                  <a:srgbClr val="E2E8F0"/>
                </a:solidFill>
                <a:latin typeface="Calibri"/>
              </a:rPr>
              <a:t>▸  Trust-weighted skill score: proficiency × endorsements × duration</a:t>
            </a:r>
          </a:p>
          <a:p>
            <a:pPr algn="l">
              <a:spcBef>
                <a:spcPts val="300"/>
              </a:spcBef>
            </a:pPr>
            <a:r>
              <a:rPr sz="1050" b="0" i="0">
                <a:solidFill>
                  <a:srgbClr val="E2E8F0"/>
                </a:solidFill>
                <a:latin typeface="Calibri"/>
              </a:rPr>
              <a:t>▸  Career trajectory: promotion speed, company tier, AI-specific roles</a:t>
            </a:r>
          </a:p>
          <a:p>
            <a:pPr algn="l">
              <a:spcBef>
                <a:spcPts val="300"/>
              </a:spcBef>
            </a:pPr>
            <a:r>
              <a:rPr sz="1050" b="0" i="0">
                <a:solidFill>
                  <a:srgbClr val="E2E8F0"/>
                </a:solidFill>
                <a:latin typeface="Calibri"/>
              </a:rPr>
              <a:t>▸  Platform signals: GitHub activity, profile completeness, response rate</a:t>
            </a:r>
          </a:p>
          <a:p>
            <a:pPr algn="l">
              <a:spcBef>
                <a:spcPts val="300"/>
              </a:spcBef>
            </a:pPr>
            <a:r>
              <a:rPr sz="1050" b="0" i="0">
                <a:solidFill>
                  <a:srgbClr val="E2E8F0"/>
                </a:solidFill>
                <a:latin typeface="Calibri"/>
              </a:rPr>
              <a:t>▸  Education: institution tier (IIT/NIT/BITS) + field + GPA</a:t>
            </a:r>
          </a:p>
          <a:p>
            <a:pPr algn="l">
              <a:spcBef>
                <a:spcPts val="300"/>
              </a:spcBef>
            </a:pPr>
            <a:r>
              <a:rPr sz="1050" b="0" i="0">
                <a:solidFill>
                  <a:srgbClr val="E2E8F0"/>
                </a:solidFill>
                <a:latin typeface="Calibri"/>
              </a:rPr>
              <a:t>▸  Certifications: ML-relevant courses (DeepLearning.AI, Kaggle, NVIDIA)</a:t>
            </a:r>
          </a:p>
          <a:p>
            <a:pPr algn="l">
              <a:spcBef>
                <a:spcPts val="300"/>
              </a:spcBef>
            </a:pPr>
            <a:r>
              <a:rPr sz="1050" b="0" i="0">
                <a:solidFill>
                  <a:srgbClr val="E2E8F0"/>
                </a:solidFill>
                <a:latin typeface="Calibri"/>
              </a:rPr>
              <a:t>▸  Behavioral: last-active days, open-to-work flag, availability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4160520"/>
            <a:ext cx="11521440" cy="1463040"/>
          </a:xfrm>
          <a:prstGeom prst="rect">
            <a:avLst/>
          </a:prstGeom>
          <a:solidFill>
            <a:srgbClr val="1E253B"/>
          </a:solidFill>
          <a:ln>
            <a:solidFill>
              <a:srgbClr val="1E25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9090" y="4179570"/>
            <a:ext cx="11483340" cy="142494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42519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  <a:latin typeface="Calibri"/>
              </a:rPr>
              <a:t>🔑  Anti-Keyword-Stuffing Formula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61772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E0E7FF"/>
                </a:solidFill>
                <a:latin typeface="Calibri"/>
              </a:rPr>
              <a:t>skill_trust  =  0.50 × proficiency_score  +  0.30 × min(1, endorsements÷20)  +  0.20 × min(1, months_used÷12)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983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94A3B8"/>
                </a:solidFill>
                <a:latin typeface="Calibri"/>
              </a:rPr>
              <a:t>A candidate claiming 'FAISS' with 0 endorsements and 0 months gets near-zero credit — regardless of how many times it appears in their profile.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0F1A"/>
          </a:solidFill>
          <a:ln>
            <a:solidFill>
              <a:srgbClr val="0D0F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88952" cy="38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0E7FF"/>
                </a:solidFill>
                <a:latin typeface="Calibri"/>
              </a:rPr>
              <a:t>Ranking Methodology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94A3B8"/>
                </a:solidFill>
                <a:latin typeface="Calibri"/>
              </a:rPr>
              <a:t>How candidates are retrieved, scored, and ranked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389888"/>
            <a:ext cx="5669280" cy="1078992"/>
          </a:xfrm>
          <a:prstGeom prst="rect">
            <a:avLst/>
          </a:prstGeom>
          <a:solidFill>
            <a:srgbClr val="1E253B"/>
          </a:solidFill>
          <a:ln>
            <a:solidFill>
              <a:srgbClr val="1E25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39090" y="1408938"/>
            <a:ext cx="5631180" cy="1040892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389888"/>
            <a:ext cx="5669280" cy="381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481328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A78BFA"/>
                </a:solidFill>
                <a:latin typeface="Calibri"/>
              </a:rPr>
              <a:t>🎯  Skill Match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148132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FFFFFF"/>
                </a:solidFill>
                <a:latin typeface="Calibri"/>
              </a:rPr>
              <a:t>35%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847088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Trust-weighted coverage of JD skills + high-value ML boost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389888"/>
            <a:ext cx="5669280" cy="1078992"/>
          </a:xfrm>
          <a:prstGeom prst="rect">
            <a:avLst/>
          </a:prstGeom>
          <a:solidFill>
            <a:srgbClr val="1E253B"/>
          </a:solidFill>
          <a:ln>
            <a:solidFill>
              <a:srgbClr val="1E25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36970" y="1408938"/>
            <a:ext cx="5631180" cy="1040892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389888"/>
            <a:ext cx="5669280" cy="381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1481328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22C55E"/>
                </a:solidFill>
                <a:latin typeface="Calibri"/>
              </a:rPr>
              <a:t>📅  Experience Fit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2720" y="148132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FFFFFF"/>
                </a:solidFill>
                <a:latin typeface="Calibri"/>
              </a:rPr>
              <a:t>25%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1847088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YoE curve: 0→0.65  2→0.72  5→0.85  12+→0.60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2560320"/>
            <a:ext cx="5669280" cy="1078992"/>
          </a:xfrm>
          <a:prstGeom prst="rect">
            <a:avLst/>
          </a:prstGeom>
          <a:solidFill>
            <a:srgbClr val="1E253B"/>
          </a:solidFill>
          <a:ln>
            <a:solidFill>
              <a:srgbClr val="1E25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39090" y="2579370"/>
            <a:ext cx="5631180" cy="1040892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2560320"/>
            <a:ext cx="5669280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265176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59E0B"/>
                </a:solidFill>
                <a:latin typeface="Calibri"/>
              </a:rPr>
              <a:t>🎓  Education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34840" y="26517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FFFFFF"/>
                </a:solidFill>
                <a:latin typeface="Calibri"/>
              </a:rPr>
              <a:t>15%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3017520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Tier (IIT+0.25) · Field (CS/ML+0.15) · GPA · Degree level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2560320"/>
            <a:ext cx="5669280" cy="1078992"/>
          </a:xfrm>
          <a:prstGeom prst="rect">
            <a:avLst/>
          </a:prstGeom>
          <a:solidFill>
            <a:srgbClr val="1E253B"/>
          </a:solidFill>
          <a:ln>
            <a:solidFill>
              <a:srgbClr val="1E25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36970" y="2579370"/>
            <a:ext cx="5631180" cy="1040892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17920" y="2560320"/>
            <a:ext cx="5669280" cy="381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55080" y="265176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A78BFA"/>
                </a:solidFill>
                <a:latin typeface="Calibri"/>
              </a:rPr>
              <a:t>📋  Completeness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32720" y="26517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FFFFFF"/>
                </a:solidFill>
                <a:latin typeface="Calibri"/>
              </a:rPr>
              <a:t>10%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55080" y="3017520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Fields filled · GitHub / LinkedIn / portfolio presence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3730752"/>
            <a:ext cx="5669280" cy="1078992"/>
          </a:xfrm>
          <a:prstGeom prst="rect">
            <a:avLst/>
          </a:prstGeom>
          <a:solidFill>
            <a:srgbClr val="1E253B"/>
          </a:solidFill>
          <a:ln>
            <a:solidFill>
              <a:srgbClr val="1E25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39090" y="3749802"/>
            <a:ext cx="5631180" cy="1040892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20040" y="3730752"/>
            <a:ext cx="5669280" cy="381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382219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22C55E"/>
                </a:solidFill>
                <a:latin typeface="Calibri"/>
              </a:rPr>
              <a:t>📜  Certifications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34840" y="382219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FFFFFF"/>
                </a:solidFill>
                <a:latin typeface="Calibri"/>
              </a:rPr>
              <a:t>10%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4187952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ML-relevant upskilling: Coursera · Kaggle · NVIDIA · HuggingFace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17920" y="3730752"/>
            <a:ext cx="5669280" cy="1078992"/>
          </a:xfrm>
          <a:prstGeom prst="rect">
            <a:avLst/>
          </a:prstGeom>
          <a:solidFill>
            <a:srgbClr val="1E253B"/>
          </a:solidFill>
          <a:ln>
            <a:solidFill>
              <a:srgbClr val="1E25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236970" y="3749802"/>
            <a:ext cx="5631180" cy="1040892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217920" y="3730752"/>
            <a:ext cx="5669280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55080" y="382219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59E0B"/>
                </a:solidFill>
                <a:latin typeface="Calibri"/>
              </a:rPr>
              <a:t>🔍  Keyword Density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332720" y="382219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FFFFFF"/>
                </a:solidFill>
                <a:latin typeface="Calibri"/>
              </a:rPr>
              <a:t>5%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55080" y="4187952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Full-text implicit JD mentions across entire profile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20040" y="4937760"/>
            <a:ext cx="7498079" cy="1600200"/>
          </a:xfrm>
          <a:prstGeom prst="rect">
            <a:avLst/>
          </a:prstGeom>
          <a:solidFill>
            <a:srgbClr val="1E253B"/>
          </a:solidFill>
          <a:ln>
            <a:solidFill>
              <a:srgbClr val="1E25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39090" y="4956810"/>
            <a:ext cx="7459979" cy="156210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57200" y="50292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78BFA"/>
                </a:solidFill>
                <a:latin typeface="Calibri"/>
              </a:rPr>
              <a:t>Composite Formula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" y="5349240"/>
            <a:ext cx="7223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  <a:latin typeface="Calibri"/>
              </a:rPr>
              <a:t>score = Σ(signal_i × weight_i)  ×  fresher_uplift (≤ 1.30×)
All signals normalised 0→1. Dual-track: top 70 experienced + top 30 freshers merged &amp; re-sorted.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001000" y="4937760"/>
            <a:ext cx="3840480" cy="1600200"/>
          </a:xfrm>
          <a:prstGeom prst="rect">
            <a:avLst/>
          </a:prstGeom>
          <a:solidFill>
            <a:srgbClr val="1E253B"/>
          </a:solidFill>
          <a:ln>
            <a:solidFill>
              <a:srgbClr val="1E25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020050" y="4956810"/>
            <a:ext cx="3802380" cy="156210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138160" y="50292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2C55E"/>
                </a:solidFill>
                <a:latin typeface="Calibri"/>
              </a:rPr>
              <a:t>No Models / No Training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138160" y="5349240"/>
            <a:ext cx="3566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Pure Python + NumPy + regex.
Deterministic, auditable, reproducible.
Same input → same output, always.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0F1A"/>
          </a:solidFill>
          <a:ln>
            <a:solidFill>
              <a:srgbClr val="0D0F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88952" cy="38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0E7FF"/>
                </a:solidFill>
                <a:latin typeface="Calibri"/>
              </a:rPr>
              <a:t>Explainability &amp; Data Validation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94A3B8"/>
                </a:solidFill>
                <a:latin typeface="Calibri"/>
              </a:rPr>
              <a:t>How decisions are explained · How bad data is handled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325880"/>
            <a:ext cx="5577840" cy="2743200"/>
          </a:xfrm>
          <a:prstGeom prst="rect">
            <a:avLst/>
          </a:prstGeom>
          <a:solidFill>
            <a:srgbClr val="1E253B"/>
          </a:solidFill>
          <a:ln>
            <a:solidFill>
              <a:srgbClr val="1E25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39090" y="1344930"/>
            <a:ext cx="5539740" cy="270510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417320"/>
            <a:ext cx="530352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Calibri"/>
              </a:rPr>
              <a:t>Per-Candidate Reasoning</a:t>
            </a:r>
          </a:p>
          <a:p>
            <a:pPr algn="l">
              <a:spcBef>
                <a:spcPts val="300"/>
              </a:spcBef>
            </a:pPr>
            <a:r>
              <a:rPr sz="1050" b="0" i="0">
                <a:solidFill>
                  <a:srgbClr val="E2E8F0"/>
                </a:solidFill>
                <a:latin typeface="Calibri"/>
              </a:rPr>
              <a:t>▸  Every candidate gets a structured reasoning string output to CSV</a:t>
            </a:r>
          </a:p>
          <a:p>
            <a:pPr algn="l">
              <a:spcBef>
                <a:spcPts val="300"/>
              </a:spcBef>
            </a:pPr>
            <a:r>
              <a:rPr sz="1050" b="0" i="0">
                <a:solidFill>
                  <a:srgbClr val="E2E8F0"/>
                </a:solidFill>
                <a:latin typeface="Calibri"/>
              </a:rPr>
              <a:t>▸  Format: SKILLS: matched 12/55 JD skills: pytorch, lora... || EXPERIENCE: Senior (7.2 YoE) || ...</a:t>
            </a:r>
          </a:p>
          <a:p>
            <a:pPr algn="l">
              <a:spcBef>
                <a:spcPts val="300"/>
              </a:spcBef>
            </a:pPr>
            <a:r>
              <a:rPr sz="1050" b="0" i="0">
                <a:solidFill>
                  <a:srgbClr val="E2E8F0"/>
                </a:solidFill>
                <a:latin typeface="Calibri"/>
              </a:rPr>
              <a:t>▸  6 individual signal scores surfaced alongside the composite</a:t>
            </a:r>
          </a:p>
          <a:p>
            <a:pPr algn="l">
              <a:spcBef>
                <a:spcPts val="300"/>
              </a:spcBef>
            </a:pPr>
            <a:r>
              <a:rPr sz="1050" b="0" i="0">
                <a:solidFill>
                  <a:srgbClr val="E2E8F0"/>
                </a:solidFill>
                <a:latin typeface="Calibri"/>
              </a:rPr>
              <a:t>▸  Fresher uplift multiplier shown explicitly (e.g. ×1.28 BOOST)</a:t>
            </a:r>
          </a:p>
          <a:p>
            <a:pPr algn="l">
              <a:spcBef>
                <a:spcPts val="300"/>
              </a:spcBef>
            </a:pPr>
            <a:r>
              <a:rPr sz="1050" b="0" i="0">
                <a:solidFill>
                  <a:srgbClr val="E2E8F0"/>
                </a:solidFill>
                <a:latin typeface="Calibri"/>
              </a:rPr>
              <a:t>▸  Streamlit UI shows bar-chart breakdown per signal for every rank</a:t>
            </a:r>
          </a:p>
          <a:p>
            <a:pPr algn="l">
              <a:spcBef>
                <a:spcPts val="300"/>
              </a:spcBef>
            </a:pPr>
            <a:r>
              <a:rPr sz="1050" b="0" i="0">
                <a:solidFill>
                  <a:srgbClr val="E2E8F0"/>
                </a:solidFill>
                <a:latin typeface="Calibri"/>
              </a:rPr>
              <a:t>▸  All score components are deterministic — no randomness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1325880"/>
            <a:ext cx="5715000" cy="2743200"/>
          </a:xfrm>
          <a:prstGeom prst="rect">
            <a:avLst/>
          </a:prstGeom>
          <a:solidFill>
            <a:srgbClr val="1E253B"/>
          </a:solidFill>
          <a:ln>
            <a:solidFill>
              <a:srgbClr val="1E25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45530" y="1344930"/>
            <a:ext cx="5676900" cy="270510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3640" y="1417320"/>
            <a:ext cx="544068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F4444"/>
                </a:solidFill>
                <a:latin typeface="Calibri"/>
              </a:rPr>
              <a:t>Anti-Hallucination &amp; Anti-Gaming</a:t>
            </a:r>
          </a:p>
          <a:p>
            <a:pPr algn="l">
              <a:spcBef>
                <a:spcPts val="300"/>
              </a:spcBef>
            </a:pPr>
            <a:r>
              <a:rPr sz="1050" b="0" i="0">
                <a:solidFill>
                  <a:srgbClr val="E2E8F0"/>
                </a:solidFill>
                <a:latin typeface="Calibri"/>
              </a:rPr>
              <a:t>▸  No LLM involved → zero hallucination risk in reasoning</a:t>
            </a:r>
          </a:p>
          <a:p>
            <a:pPr algn="l">
              <a:spcBef>
                <a:spcPts val="300"/>
              </a:spcBef>
            </a:pPr>
            <a:r>
              <a:rPr sz="1050" b="0" i="0">
                <a:solidFill>
                  <a:srgbClr val="E2E8F0"/>
                </a:solidFill>
                <a:latin typeface="Calibri"/>
              </a:rPr>
              <a:t>▸  Skills require endorsements + duration to count (trust multiplier)</a:t>
            </a:r>
          </a:p>
          <a:p>
            <a:pPr algn="l">
              <a:spcBef>
                <a:spcPts val="300"/>
              </a:spcBef>
            </a:pPr>
            <a:r>
              <a:rPr sz="1050" b="0" i="0">
                <a:solidFill>
                  <a:srgbClr val="E2E8F0"/>
                </a:solidFill>
                <a:latin typeface="Calibri"/>
              </a:rPr>
              <a:t>▸  Keyword-stuffed profiles are explicitly penalised</a:t>
            </a:r>
          </a:p>
          <a:p>
            <a:pPr algn="l">
              <a:spcBef>
                <a:spcPts val="300"/>
              </a:spcBef>
            </a:pPr>
            <a:r>
              <a:rPr sz="1050" b="0" i="0">
                <a:solidFill>
                  <a:srgbClr val="E2E8F0"/>
                </a:solidFill>
                <a:latin typeface="Calibri"/>
              </a:rPr>
              <a:t>▸  Services-firm penalty: TCS/Infosys/Wipro bulk contractors → ×0.60</a:t>
            </a:r>
          </a:p>
          <a:p>
            <a:pPr algn="l">
              <a:spcBef>
                <a:spcPts val="300"/>
              </a:spcBef>
            </a:pPr>
            <a:r>
              <a:rPr sz="1050" b="0" i="0">
                <a:solidFill>
                  <a:srgbClr val="E2E8F0"/>
                </a:solidFill>
                <a:latin typeface="Calibri"/>
              </a:rPr>
              <a:t>▸  Behavioral availability check: inactive 180d + low response → ×0.50</a:t>
            </a:r>
          </a:p>
          <a:p>
            <a:pPr algn="l">
              <a:spcBef>
                <a:spcPts val="300"/>
              </a:spcBef>
            </a:pPr>
            <a:r>
              <a:rPr sz="1050" b="0" i="0">
                <a:solidFill>
                  <a:srgbClr val="E2E8F0"/>
                </a:solidFill>
                <a:latin typeface="Calibri"/>
              </a:rPr>
              <a:t>▸  Suspicious profiles (short stint spam, mismatched title) get penalties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4251960"/>
            <a:ext cx="11521440" cy="2331720"/>
          </a:xfrm>
          <a:prstGeom prst="rect">
            <a:avLst/>
          </a:prstGeom>
          <a:solidFill>
            <a:srgbClr val="1E253B"/>
          </a:solidFill>
          <a:ln>
            <a:solidFill>
              <a:srgbClr val="1E25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9090" y="4271010"/>
            <a:ext cx="11483340" cy="229362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43434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  <a:latin typeface="Calibri"/>
              </a:rPr>
              <a:t>Penalty &amp; Boost Reference Table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709160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  <a:latin typeface="Calibri"/>
              </a:rPr>
              <a:t>• Services firm, no ML content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0" y="4709160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 i="0">
                <a:solidFill>
                  <a:srgbClr val="EF4444"/>
                </a:solidFill>
                <a:latin typeface="Calibri"/>
              </a:rPr>
              <a:t>×0.60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5047488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  <a:latin typeface="Calibri"/>
              </a:rPr>
              <a:t>• Inactive &gt;180 days + low response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5047488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 i="0">
                <a:solidFill>
                  <a:srgbClr val="EF4444"/>
                </a:solidFill>
                <a:latin typeface="Calibri"/>
              </a:rPr>
              <a:t>×0.50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5385816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  <a:latin typeface="Calibri"/>
              </a:rPr>
              <a:t>• Skill claimed but 0 endorsements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5385816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 i="0">
                <a:solidFill>
                  <a:srgbClr val="F59E0B"/>
                </a:solidFill>
                <a:latin typeface="Calibri"/>
              </a:rPr>
              <a:t>×0.30 trust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5724144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  <a:latin typeface="Calibri"/>
              </a:rPr>
              <a:t>• Fresher with strong signals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0" y="5724144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 i="0">
                <a:solidFill>
                  <a:srgbClr val="22C55E"/>
                </a:solidFill>
                <a:latin typeface="Calibri"/>
              </a:rPr>
              <a:t>×1.10–1.30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06247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  <a:latin typeface="Calibri"/>
              </a:rPr>
              <a:t>• High-value ML skill match bonus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6062472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 i="0">
                <a:solidFill>
                  <a:srgbClr val="22C55E"/>
                </a:solidFill>
                <a:latin typeface="Calibri"/>
              </a:rPr>
              <a:t>+0.05 per hit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0F1A"/>
          </a:solidFill>
          <a:ln>
            <a:solidFill>
              <a:srgbClr val="0D0F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88952" cy="38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0E7FF"/>
                </a:solidFill>
                <a:latin typeface="Calibri"/>
              </a:rPr>
              <a:t>End-to-End 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94A3B8"/>
                </a:solidFill>
                <a:latin typeface="Calibri"/>
              </a:rPr>
              <a:t>From JD input to ranked candidate output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371600"/>
            <a:ext cx="1828800" cy="4114800"/>
          </a:xfrm>
          <a:prstGeom prst="rect">
            <a:avLst/>
          </a:prstGeom>
          <a:solidFill>
            <a:srgbClr val="1E253B"/>
          </a:solidFill>
          <a:ln>
            <a:solidFill>
              <a:srgbClr val="1E25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93370" y="1390650"/>
            <a:ext cx="1790700" cy="407670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371600"/>
            <a:ext cx="1828800" cy="508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481328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6366F1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" y="1965960"/>
            <a:ext cx="1691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JD 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450592"/>
            <a:ext cx="16916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Calibri"/>
              </a:rPr>
              <a:t>job_description.docx parsed
via jd_parser.py
55 critical + 32 preferred
skills extracted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12263" y="3291840"/>
            <a:ext cx="2011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A78BFA"/>
                </a:solidFill>
                <a:latin typeface="Calibri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49424" y="1371600"/>
            <a:ext cx="1828800" cy="4114800"/>
          </a:xfrm>
          <a:prstGeom prst="rect">
            <a:avLst/>
          </a:prstGeom>
          <a:solidFill>
            <a:srgbClr val="1E253B"/>
          </a:solidFill>
          <a:ln>
            <a:solidFill>
              <a:srgbClr val="1E25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268474" y="1390650"/>
            <a:ext cx="1790700" cy="407670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249424" y="1371600"/>
            <a:ext cx="1828800" cy="508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89504" y="1481328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A78BFA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22576" y="1965960"/>
            <a:ext cx="1691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Load Candidates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40864" y="2450592"/>
            <a:ext cx="16916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Calibri"/>
              </a:rPr>
              <a:t>candidates.jsonl streamed
line-by-line
89,788 profiles loaded
Malformed lines skipped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87367" y="3291840"/>
            <a:ext cx="2011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A78BFA"/>
                </a:solidFill>
                <a:latin typeface="Calibri"/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24528" y="1371600"/>
            <a:ext cx="1828800" cy="4114800"/>
          </a:xfrm>
          <a:prstGeom prst="rect">
            <a:avLst/>
          </a:prstGeom>
          <a:solidFill>
            <a:srgbClr val="1E253B"/>
          </a:solidFill>
          <a:ln>
            <a:solidFill>
              <a:srgbClr val="1E25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43578" y="1390650"/>
            <a:ext cx="1790700" cy="407670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24528" y="1371600"/>
            <a:ext cx="1828800" cy="508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64608" y="1481328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2C55E"/>
                </a:solidFill>
                <a:latin typeface="Calibr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97680" y="1965960"/>
            <a:ext cx="1691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Score Each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15968" y="2450592"/>
            <a:ext cx="16916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Calibri"/>
              </a:rPr>
              <a:t>6-signal scorer runs
on every candidate
712 candidates/sec
~126s total on CPU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62471" y="3291840"/>
            <a:ext cx="2011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A78BFA"/>
                </a:solidFill>
                <a:latin typeface="Calibri"/>
              </a:rPr>
              <a:t>→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99632" y="1371600"/>
            <a:ext cx="1828800" cy="4114800"/>
          </a:xfrm>
          <a:prstGeom prst="rect">
            <a:avLst/>
          </a:prstGeom>
          <a:solidFill>
            <a:srgbClr val="1E253B"/>
          </a:solidFill>
          <a:ln>
            <a:solidFill>
              <a:srgbClr val="1E25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18682" y="1390650"/>
            <a:ext cx="1790700" cy="407670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99632" y="1371600"/>
            <a:ext cx="1828800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39712" y="1481328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59E0B"/>
                </a:solidFill>
                <a:latin typeface="Calibri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72784" y="1965960"/>
            <a:ext cx="1691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Dual-Track Split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91072" y="2450592"/>
            <a:ext cx="16916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Calibri"/>
              </a:rPr>
              <a:t>Freshers ≤2 YoE separated
Experienced 70 slots
Freshers 30 slots
Fresher uplift applied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37575" y="3291840"/>
            <a:ext cx="2011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A78BFA"/>
                </a:solidFill>
                <a:latin typeface="Calibri"/>
              </a:rPr>
              <a:t>→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174736" y="1371600"/>
            <a:ext cx="1828800" cy="4114800"/>
          </a:xfrm>
          <a:prstGeom prst="rect">
            <a:avLst/>
          </a:prstGeom>
          <a:solidFill>
            <a:srgbClr val="1E253B"/>
          </a:solidFill>
          <a:ln>
            <a:solidFill>
              <a:srgbClr val="1E25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193786" y="1390650"/>
            <a:ext cx="1790700" cy="407670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174736" y="1371600"/>
            <a:ext cx="1828800" cy="508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814816" y="1481328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A78BFA"/>
                </a:solidFill>
                <a:latin typeface="Calibri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47888" y="1965960"/>
            <a:ext cx="1691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Merge &amp; Rank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66176" y="2450592"/>
            <a:ext cx="16916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Calibri"/>
              </a:rPr>
              <a:t>Both tracks sorted
by final_score
Merged → top 100
Final re-sort by score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12679" y="3291840"/>
            <a:ext cx="2011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A78BFA"/>
                </a:solidFill>
                <a:latin typeface="Calibri"/>
              </a:rPr>
              <a:t>→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149840" y="1371600"/>
            <a:ext cx="1828800" cy="4114800"/>
          </a:xfrm>
          <a:prstGeom prst="rect">
            <a:avLst/>
          </a:prstGeom>
          <a:solidFill>
            <a:srgbClr val="1E253B"/>
          </a:solidFill>
          <a:ln>
            <a:solidFill>
              <a:srgbClr val="1E25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168890" y="1390650"/>
            <a:ext cx="1790700" cy="407670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0149840" y="1371600"/>
            <a:ext cx="1828800" cy="508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789920" y="1481328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2C55E"/>
                </a:solidFill>
                <a:latin typeface="Calibri"/>
              </a:rPr>
              <a:t>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222992" y="1965960"/>
            <a:ext cx="1691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Output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241280" y="2450592"/>
            <a:ext cx="16916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Calibri"/>
              </a:rPr>
              <a:t>submission.csv written
Rank · Score · Reasoning
Validation: 100 rows ✓
Unique ranks ✓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20040" y="5669280"/>
            <a:ext cx="11521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1">
                <a:solidFill>
                  <a:srgbClr val="94A3B8"/>
                </a:solidFill>
                <a:latin typeface="Calibri"/>
              </a:rPr>
              <a:t>UI Path: Upload file (any format) → paste JD → click Rank → view breakdown → download CSV/JSON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0F1A"/>
          </a:solidFill>
          <a:ln>
            <a:solidFill>
              <a:srgbClr val="0D0F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88952" cy="38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0E7FF"/>
                </a:solidFill>
                <a:latin typeface="Calibri"/>
              </a:rPr>
              <a:t>System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94A3B8"/>
                </a:solidFill>
                <a:latin typeface="Calibri"/>
              </a:rPr>
              <a:t>Module breakdown and data flow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325880"/>
            <a:ext cx="3749039" cy="3657600"/>
          </a:xfrm>
          <a:prstGeom prst="rect">
            <a:avLst/>
          </a:prstGeom>
          <a:solidFill>
            <a:srgbClr val="1E253B"/>
          </a:solidFill>
          <a:ln>
            <a:solidFill>
              <a:srgbClr val="1E25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93370" y="1344930"/>
            <a:ext cx="3710939" cy="361950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325880"/>
            <a:ext cx="3749039" cy="508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4173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6366F1"/>
                </a:solidFill>
                <a:latin typeface="Calibri"/>
              </a:rPr>
              <a:t>INPUT LAYER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92024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  <a:latin typeface="Calibri"/>
              </a:rPr>
              <a:t>▸  job_description.docx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51460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  <a:latin typeface="Calibri"/>
              </a:rPr>
              <a:t>▸  candidates.jsonl (89K)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10896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  <a:latin typeface="Calibri"/>
              </a:rPr>
              <a:t>▸  Google Forms CSV / Excel / JSON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41648" y="29260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6366F1"/>
                </a:solidFill>
                <a:latin typeface="Calibri"/>
              </a:rPr>
              <a:t>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51960" y="1325880"/>
            <a:ext cx="3749039" cy="3657600"/>
          </a:xfrm>
          <a:prstGeom prst="rect">
            <a:avLst/>
          </a:prstGeom>
          <a:solidFill>
            <a:srgbClr val="1E253B"/>
          </a:solidFill>
          <a:ln>
            <a:solidFill>
              <a:srgbClr val="1E25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71010" y="1344930"/>
            <a:ext cx="3710939" cy="361950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51960" y="1325880"/>
            <a:ext cx="3749039" cy="508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9120" y="14173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A78BFA"/>
                </a:solidFill>
                <a:latin typeface="Calibri"/>
              </a:rPr>
              <a:t>PROCESSING LAYER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192024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  <a:latin typeface="Calibri"/>
              </a:rPr>
              <a:t>▸  jd_parser.py  →  55 critical skills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251460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  <a:latin typeface="Calibri"/>
              </a:rPr>
              <a:t>▸  universal_parser.py  →  column auto-detect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4840" y="310896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  <a:latin typeface="Calibri"/>
              </a:rPr>
              <a:t>▸  scorer.py  →  6 signals × weights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34840" y="370332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  <a:latin typeface="Calibri"/>
              </a:rPr>
              <a:t>▸  rank.py  →  dual-track split + merge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19288" y="29260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6366F1"/>
                </a:solidFill>
                <a:latin typeface="Calibri"/>
              </a:rPr>
              <a:t>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0" y="1325880"/>
            <a:ext cx="3749039" cy="3657600"/>
          </a:xfrm>
          <a:prstGeom prst="rect">
            <a:avLst/>
          </a:prstGeom>
          <a:solidFill>
            <a:srgbClr val="1E253B"/>
          </a:solidFill>
          <a:ln>
            <a:solidFill>
              <a:srgbClr val="1E25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48650" y="1344930"/>
            <a:ext cx="3710939" cy="361950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29600" y="1325880"/>
            <a:ext cx="3749039" cy="508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66760" y="14173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2C55E"/>
                </a:solidFill>
                <a:latin typeface="Calibri"/>
              </a:rPr>
              <a:t>OUTPUT LAYER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192024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  <a:latin typeface="Calibri"/>
              </a:rPr>
              <a:t>▸  submission.csv  (rank · score · reasoning)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251460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  <a:latin typeface="Calibri"/>
              </a:rPr>
              <a:t>▸  ranked_candidates.json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310896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  <a:latin typeface="Calibri"/>
              </a:rPr>
              <a:t>▸  Streamlit UI  →  visual breakdown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0" y="370332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  <a:latin typeface="Calibri"/>
              </a:rPr>
              <a:t>▸  GitHub Actions CI  →  auto-validated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5166360"/>
            <a:ext cx="11567160" cy="1463040"/>
          </a:xfrm>
          <a:prstGeom prst="rect">
            <a:avLst/>
          </a:prstGeom>
          <a:solidFill>
            <a:srgbClr val="1E253B"/>
          </a:solidFill>
          <a:ln>
            <a:solidFill>
              <a:srgbClr val="1E25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93370" y="5185410"/>
            <a:ext cx="11529060" cy="142494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52578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78BFA"/>
                </a:solidFill>
                <a:latin typeface="Calibri"/>
              </a:rPr>
              <a:t>Key Files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55778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9E0B"/>
                </a:solidFill>
                <a:latin typeface="Calibri"/>
              </a:rPr>
              <a:t>📄 app.py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148840" y="55778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Streamlit UI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91840" y="55778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9E0B"/>
                </a:solidFill>
                <a:latin typeface="Calibri"/>
              </a:rPr>
              <a:t>📄 universal_parser.py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983480" y="55778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Any-format parser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26480" y="55778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9E0B"/>
                </a:solidFill>
                <a:latin typeface="Calibri"/>
              </a:rPr>
              <a:t>📄 universal_scorer.py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818120" y="55778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Flat-data scorer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61120" y="55778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9E0B"/>
                </a:solidFill>
                <a:latin typeface="Calibri"/>
              </a:rPr>
              <a:t>📄 scorer.py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652760" y="55778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Challenge scorer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59893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9E0B"/>
                </a:solidFill>
                <a:latin typeface="Calibri"/>
              </a:rPr>
              <a:t>📄 jd_parser.py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148840" y="59893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JD skill extractor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291840" y="59893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9E0B"/>
                </a:solidFill>
                <a:latin typeface="Calibri"/>
              </a:rPr>
              <a:t>📄 rank.py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983480" y="59893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CLI ranker + dual-track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126480" y="59893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9E0B"/>
                </a:solidFill>
                <a:latin typeface="Calibri"/>
              </a:rPr>
              <a:t>📄 Dockerfile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18120" y="59893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Container build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961120" y="59893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9E0B"/>
                </a:solidFill>
                <a:latin typeface="Calibri"/>
              </a:rPr>
              <a:t>📄 ci.yml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652760" y="59893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GitHub Actions CI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0F1A"/>
          </a:solidFill>
          <a:ln>
            <a:solidFill>
              <a:srgbClr val="0D0F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88952" cy="38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0E7FF"/>
                </a:solidFill>
                <a:latin typeface="Calibri"/>
              </a:rPr>
              <a:t>Results &amp; Performance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94A3B8"/>
                </a:solidFill>
                <a:latin typeface="Calibri"/>
              </a:rPr>
              <a:t>Challenge outcomes and runtime validation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325880"/>
            <a:ext cx="3657600" cy="1097280"/>
          </a:xfrm>
          <a:prstGeom prst="rect">
            <a:avLst/>
          </a:prstGeom>
          <a:solidFill>
            <a:srgbClr val="1E253B"/>
          </a:solidFill>
          <a:ln>
            <a:solidFill>
              <a:srgbClr val="1E25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39090" y="1344930"/>
            <a:ext cx="3619500" cy="105918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399032"/>
            <a:ext cx="3657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A78BFA"/>
                </a:solidFill>
                <a:latin typeface="Calibri"/>
              </a:rPr>
              <a:t>89,788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19659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94A3B8"/>
                </a:solidFill>
                <a:latin typeface="Calibri"/>
              </a:rPr>
              <a:t>Candidates Scored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51960" y="1325880"/>
            <a:ext cx="3657600" cy="1097280"/>
          </a:xfrm>
          <a:prstGeom prst="rect">
            <a:avLst/>
          </a:prstGeom>
          <a:solidFill>
            <a:srgbClr val="1E253B"/>
          </a:solidFill>
          <a:ln>
            <a:solidFill>
              <a:srgbClr val="1E25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71010" y="1344930"/>
            <a:ext cx="3619500" cy="105918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51960" y="1399032"/>
            <a:ext cx="3657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22C55E"/>
                </a:solidFill>
                <a:latin typeface="Calibri"/>
              </a:rPr>
              <a:t>712/s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51960" y="19659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94A3B8"/>
                </a:solidFill>
                <a:latin typeface="Calibri"/>
              </a:rPr>
              <a:t>Scoring Speed (CPU)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83880" y="1325880"/>
            <a:ext cx="3657600" cy="1097280"/>
          </a:xfrm>
          <a:prstGeom prst="rect">
            <a:avLst/>
          </a:prstGeom>
          <a:solidFill>
            <a:srgbClr val="1E253B"/>
          </a:solidFill>
          <a:ln>
            <a:solidFill>
              <a:srgbClr val="1E25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02930" y="1344930"/>
            <a:ext cx="3619500" cy="105918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83880" y="1399032"/>
            <a:ext cx="3657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59E0B"/>
                </a:solidFill>
                <a:latin typeface="Calibri"/>
              </a:rPr>
              <a:t>~126s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80" y="19659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94A3B8"/>
                </a:solidFill>
                <a:latin typeface="Calibri"/>
              </a:rPr>
              <a:t>Total Runtime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2606040"/>
            <a:ext cx="3657600" cy="1097280"/>
          </a:xfrm>
          <a:prstGeom prst="rect">
            <a:avLst/>
          </a:prstGeom>
          <a:solidFill>
            <a:srgbClr val="1E253B"/>
          </a:solidFill>
          <a:ln>
            <a:solidFill>
              <a:srgbClr val="1E25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39090" y="2625090"/>
            <a:ext cx="3619500" cy="105918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0040" y="2679192"/>
            <a:ext cx="3657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22C55E"/>
                </a:solidFill>
                <a:latin typeface="Calibri"/>
              </a:rPr>
              <a:t>30/100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" y="32461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94A3B8"/>
                </a:solidFill>
                <a:latin typeface="Calibri"/>
              </a:rPr>
              <a:t>Freshers in Top 100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51960" y="2606040"/>
            <a:ext cx="3657600" cy="1097280"/>
          </a:xfrm>
          <a:prstGeom prst="rect">
            <a:avLst/>
          </a:prstGeom>
          <a:solidFill>
            <a:srgbClr val="1E253B"/>
          </a:solidFill>
          <a:ln>
            <a:solidFill>
              <a:srgbClr val="1E25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71010" y="2625090"/>
            <a:ext cx="3619500" cy="105918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51960" y="2679192"/>
            <a:ext cx="3657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A78BFA"/>
                </a:solidFill>
                <a:latin typeface="Calibri"/>
              </a:rPr>
              <a:t>0.9068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51960" y="32461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94A3B8"/>
                </a:solidFill>
                <a:latin typeface="Calibri"/>
              </a:rPr>
              <a:t>Top Composite Score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83880" y="2606040"/>
            <a:ext cx="3657600" cy="1097280"/>
          </a:xfrm>
          <a:prstGeom prst="rect">
            <a:avLst/>
          </a:prstGeom>
          <a:solidFill>
            <a:srgbClr val="1E253B"/>
          </a:solidFill>
          <a:ln>
            <a:solidFill>
              <a:srgbClr val="1E25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202930" y="2625090"/>
            <a:ext cx="3619500" cy="105918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83880" y="2679192"/>
            <a:ext cx="3657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59E0B"/>
                </a:solidFill>
                <a:latin typeface="Calibri"/>
              </a:rPr>
              <a:t>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83880" y="32461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94A3B8"/>
                </a:solidFill>
                <a:latin typeface="Calibri"/>
              </a:rPr>
              <a:t>API / GPU Calls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3886200"/>
            <a:ext cx="11521440" cy="2724912"/>
          </a:xfrm>
          <a:prstGeom prst="rect">
            <a:avLst/>
          </a:prstGeom>
          <a:solidFill>
            <a:srgbClr val="1E253B"/>
          </a:solidFill>
          <a:ln>
            <a:solidFill>
              <a:srgbClr val="1E25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39090" y="3905250"/>
            <a:ext cx="11483340" cy="2686812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3977639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  <a:latin typeface="Calibri"/>
              </a:rPr>
              <a:t>🏆  Top 10 Candidates — Snapshot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4343400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94A3B8"/>
                </a:solidFill>
                <a:latin typeface="Calibri"/>
              </a:rPr>
              <a:t>Rank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88720" y="4343400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94A3B8"/>
                </a:solidFill>
                <a:latin typeface="Calibri"/>
              </a:rPr>
              <a:t>Candidate ID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43200" y="434340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94A3B8"/>
                </a:solidFill>
                <a:latin typeface="Calibri"/>
              </a:rPr>
              <a:t>Role &amp; Company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800" y="4343400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94A3B8"/>
                </a:solidFill>
                <a:latin typeface="Calibri"/>
              </a:rPr>
              <a:t>Experience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424160" y="434340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94A3B8"/>
                </a:solidFill>
                <a:latin typeface="Calibri"/>
              </a:rPr>
              <a:t>Score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11480" y="4638040"/>
            <a:ext cx="11338560" cy="329184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2920" y="4663440"/>
            <a:ext cx="640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9E0B"/>
                </a:solidFill>
                <a:latin typeface="Calibri"/>
              </a:rPr>
              <a:t>#1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88720" y="4663440"/>
            <a:ext cx="1463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  <a:latin typeface="Calibri"/>
              </a:rPr>
              <a:t>CAND_0081846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743200" y="4663440"/>
            <a:ext cx="5486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  <a:latin typeface="Calibri"/>
              </a:rPr>
              <a:t>Lead AI Engineer @ Razorpay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86800" y="4663440"/>
            <a:ext cx="1645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  <a:latin typeface="Calibri"/>
              </a:rPr>
              <a:t>6.7 YoE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424160" y="4663440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2C55E"/>
                </a:solidFill>
                <a:latin typeface="Calibri"/>
              </a:rPr>
              <a:t>0.9068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11480" y="4985512"/>
            <a:ext cx="11338560" cy="329184"/>
          </a:xfrm>
          <a:prstGeom prst="rect">
            <a:avLst/>
          </a:prstGeom>
          <a:solidFill>
            <a:srgbClr val="1E253B"/>
          </a:solidFill>
          <a:ln>
            <a:solidFill>
              <a:srgbClr val="1E25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02920" y="5010912"/>
            <a:ext cx="640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9E0B"/>
                </a:solidFill>
                <a:latin typeface="Calibri"/>
              </a:rPr>
              <a:t>#2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88720" y="5010912"/>
            <a:ext cx="1463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  <a:latin typeface="Calibri"/>
              </a:rPr>
              <a:t>CAND_0046064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743200" y="5010912"/>
            <a:ext cx="5486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  <a:latin typeface="Calibri"/>
              </a:rPr>
              <a:t>Senior NLP Engineer @ Salesforce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686800" y="5010912"/>
            <a:ext cx="1645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  <a:latin typeface="Calibri"/>
              </a:rPr>
              <a:t>8.9 YoE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424160" y="5010912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2C55E"/>
                </a:solidFill>
                <a:latin typeface="Calibri"/>
              </a:rPr>
              <a:t>0.8994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11480" y="5332984"/>
            <a:ext cx="11338560" cy="329184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02920" y="5358384"/>
            <a:ext cx="640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9E0B"/>
                </a:solidFill>
                <a:latin typeface="Calibri"/>
              </a:rPr>
              <a:t>#3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88720" y="5358384"/>
            <a:ext cx="1463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  <a:latin typeface="Calibri"/>
              </a:rPr>
              <a:t>CAND_0027691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743200" y="5358384"/>
            <a:ext cx="5486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  <a:latin typeface="Calibri"/>
              </a:rPr>
              <a:t>NLP Engineer @ Haptik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686800" y="5358384"/>
            <a:ext cx="1645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  <a:latin typeface="Calibri"/>
              </a:rPr>
              <a:t>6.5 YoE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424160" y="5358384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2C55E"/>
                </a:solidFill>
                <a:latin typeface="Calibri"/>
              </a:rPr>
              <a:t>0.8953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11480" y="5680456"/>
            <a:ext cx="11338560" cy="329184"/>
          </a:xfrm>
          <a:prstGeom prst="rect">
            <a:avLst/>
          </a:prstGeom>
          <a:solidFill>
            <a:srgbClr val="1E253B"/>
          </a:solidFill>
          <a:ln>
            <a:solidFill>
              <a:srgbClr val="1E25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02920" y="5705856"/>
            <a:ext cx="640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9E0B"/>
                </a:solidFill>
                <a:latin typeface="Calibri"/>
              </a:rPr>
              <a:t>#4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88720" y="5705856"/>
            <a:ext cx="1463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  <a:latin typeface="Calibri"/>
              </a:rPr>
              <a:t>CAND_0077337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743200" y="5705856"/>
            <a:ext cx="5486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  <a:latin typeface="Calibri"/>
              </a:rPr>
              <a:t>Staff ML Engineer @ Paytm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686800" y="5705856"/>
            <a:ext cx="1645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  <a:latin typeface="Calibri"/>
              </a:rPr>
              <a:t>7.0 YoE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424160" y="5705856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2C55E"/>
                </a:solidFill>
                <a:latin typeface="Calibri"/>
              </a:rPr>
              <a:t>0.8919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11480" y="6027928"/>
            <a:ext cx="11338560" cy="329184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02920" y="6053328"/>
            <a:ext cx="640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9E0B"/>
                </a:solidFill>
                <a:latin typeface="Calibri"/>
              </a:rPr>
              <a:t>#5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188720" y="6053328"/>
            <a:ext cx="1463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  <a:latin typeface="Calibri"/>
              </a:rPr>
              <a:t>CAND_0079387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743200" y="6053328"/>
            <a:ext cx="5486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  <a:latin typeface="Calibri"/>
              </a:rPr>
              <a:t>AI Engineer @ Microsoft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686800" y="6053328"/>
            <a:ext cx="1645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E8F0"/>
                </a:solidFill>
                <a:latin typeface="Calibri"/>
              </a:rPr>
              <a:t>6.9 YoE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424160" y="6053328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2C55E"/>
                </a:solidFill>
                <a:latin typeface="Calibri"/>
              </a:rPr>
              <a:t>0.8858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02920" y="6446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22C55E"/>
                </a:solidFill>
                <a:latin typeface="Calibri"/>
              </a:rPr>
              <a:t>Validation: python dataset/validate_submission.py submission.csv  →  ✅ Submission is valid.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0F1A"/>
          </a:solidFill>
          <a:ln>
            <a:solidFill>
              <a:srgbClr val="0D0F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88952" cy="38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0E7FF"/>
                </a:solidFill>
                <a:latin typeface="Calibri"/>
              </a:rPr>
              <a:t>Technologies Used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94A3B8"/>
                </a:solidFill>
                <a:latin typeface="Calibri"/>
              </a:rPr>
              <a:t>What was used · Why each was chosen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389888"/>
            <a:ext cx="5669280" cy="859536"/>
          </a:xfrm>
          <a:prstGeom prst="rect">
            <a:avLst/>
          </a:prstGeom>
          <a:solidFill>
            <a:srgbClr val="1E253B"/>
          </a:solidFill>
          <a:ln>
            <a:solidFill>
              <a:srgbClr val="1E25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39090" y="1408938"/>
            <a:ext cx="5631180" cy="821436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389888"/>
            <a:ext cx="50800" cy="859536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43560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78BFA"/>
                </a:solidFill>
                <a:latin typeface="Calibri"/>
              </a:rPr>
              <a:t>Python 3.11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06040" y="146304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4A3B8"/>
                </a:solidFill>
                <a:latin typeface="Calibri"/>
              </a:rPr>
              <a:t>Core language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847088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  <a:latin typeface="Calibri"/>
              </a:rPr>
              <a:t>Speed, ecosystem maturity, rich standard library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389888"/>
            <a:ext cx="5669280" cy="859536"/>
          </a:xfrm>
          <a:prstGeom prst="rect">
            <a:avLst/>
          </a:prstGeom>
          <a:solidFill>
            <a:srgbClr val="1E253B"/>
          </a:solidFill>
          <a:ln>
            <a:solidFill>
              <a:srgbClr val="1E25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36970" y="1408938"/>
            <a:ext cx="5631180" cy="821436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389888"/>
            <a:ext cx="50800" cy="859536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43560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78BFA"/>
                </a:solidFill>
                <a:latin typeface="Calibri"/>
              </a:rPr>
              <a:t>NumPy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146304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4A3B8"/>
                </a:solidFill>
                <a:latin typeface="Calibri"/>
              </a:rPr>
              <a:t>Numerical ops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1847088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  <a:latin typeface="Calibri"/>
              </a:rPr>
              <a:t>Fast array math for score aggregation across 89K candidates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2340864"/>
            <a:ext cx="5669280" cy="859536"/>
          </a:xfrm>
          <a:prstGeom prst="rect">
            <a:avLst/>
          </a:prstGeom>
          <a:solidFill>
            <a:srgbClr val="1E253B"/>
          </a:solidFill>
          <a:ln>
            <a:solidFill>
              <a:srgbClr val="1E25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39090" y="2359914"/>
            <a:ext cx="5631180" cy="821436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2340864"/>
            <a:ext cx="50800" cy="859536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2386584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78BFA"/>
                </a:solidFill>
                <a:latin typeface="Calibri"/>
              </a:rPr>
              <a:t>pandas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06040" y="2414016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4A3B8"/>
                </a:solidFill>
                <a:latin typeface="Calibri"/>
              </a:rPr>
              <a:t>Data handling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2798064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  <a:latin typeface="Calibri"/>
              </a:rPr>
              <a:t>Flexible CSV/Excel ingestion with type coercion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2340864"/>
            <a:ext cx="5669280" cy="859536"/>
          </a:xfrm>
          <a:prstGeom prst="rect">
            <a:avLst/>
          </a:prstGeom>
          <a:solidFill>
            <a:srgbClr val="1E253B"/>
          </a:solidFill>
          <a:ln>
            <a:solidFill>
              <a:srgbClr val="1E25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36970" y="2359914"/>
            <a:ext cx="5631180" cy="821436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17920" y="2340864"/>
            <a:ext cx="50800" cy="859536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2386584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78BFA"/>
                </a:solidFill>
                <a:latin typeface="Calibri"/>
              </a:rPr>
              <a:t>regex (re)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20" y="2414016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4A3B8"/>
                </a:solidFill>
                <a:latin typeface="Calibri"/>
              </a:rPr>
              <a:t>Skill extraction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2798064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  <a:latin typeface="Calibri"/>
              </a:rPr>
              <a:t>Compiled patterns for fast, accurate JD and profile scanning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3291840"/>
            <a:ext cx="5669280" cy="859536"/>
          </a:xfrm>
          <a:prstGeom prst="rect">
            <a:avLst/>
          </a:prstGeom>
          <a:solidFill>
            <a:srgbClr val="1E253B"/>
          </a:solidFill>
          <a:ln>
            <a:solidFill>
              <a:srgbClr val="1E25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39090" y="3310890"/>
            <a:ext cx="5631180" cy="821436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20040" y="3291840"/>
            <a:ext cx="50800" cy="85953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" y="33375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  <a:latin typeface="Calibri"/>
              </a:rPr>
              <a:t>python-docx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06040" y="3364992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4A3B8"/>
                </a:solidFill>
                <a:latin typeface="Calibri"/>
              </a:rPr>
              <a:t>JD parsing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374904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  <a:latin typeface="Calibri"/>
              </a:rPr>
              <a:t>Reads Word doc JD natively — no conversion needed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17920" y="3291840"/>
            <a:ext cx="5669280" cy="859536"/>
          </a:xfrm>
          <a:prstGeom prst="rect">
            <a:avLst/>
          </a:prstGeom>
          <a:solidFill>
            <a:srgbClr val="1E253B"/>
          </a:solidFill>
          <a:ln>
            <a:solidFill>
              <a:srgbClr val="1E25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236970" y="3310890"/>
            <a:ext cx="5631180" cy="821436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217920" y="3291840"/>
            <a:ext cx="50800" cy="85953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0" y="33375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  <a:latin typeface="Calibri"/>
              </a:rPr>
              <a:t>Streamlit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03920" y="3364992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4A3B8"/>
                </a:solidFill>
                <a:latin typeface="Calibri"/>
              </a:rPr>
              <a:t>Web UI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0" y="374904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  <a:latin typeface="Calibri"/>
              </a:rPr>
              <a:t>Zero-config Python-native web framework; rapid iteration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20040" y="4242816"/>
            <a:ext cx="5669280" cy="859536"/>
          </a:xfrm>
          <a:prstGeom prst="rect">
            <a:avLst/>
          </a:prstGeom>
          <a:solidFill>
            <a:srgbClr val="1E253B"/>
          </a:solidFill>
          <a:ln>
            <a:solidFill>
              <a:srgbClr val="1E25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39090" y="4261866"/>
            <a:ext cx="5631180" cy="821436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20040" y="4242816"/>
            <a:ext cx="50800" cy="85953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02920" y="4288536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  <a:latin typeface="Calibri"/>
              </a:rPr>
              <a:t>openpyxl / xlrd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606040" y="431596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4A3B8"/>
                </a:solidFill>
                <a:latin typeface="Calibri"/>
              </a:rPr>
              <a:t>Excel support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02920" y="4700016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  <a:latin typeface="Calibri"/>
              </a:rPr>
              <a:t>Read .xlsx/.xls Google Forms exports directly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217920" y="4242816"/>
            <a:ext cx="5669280" cy="859536"/>
          </a:xfrm>
          <a:prstGeom prst="rect">
            <a:avLst/>
          </a:prstGeom>
          <a:solidFill>
            <a:srgbClr val="1E253B"/>
          </a:solidFill>
          <a:ln>
            <a:solidFill>
              <a:srgbClr val="1E25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236970" y="4261866"/>
            <a:ext cx="5631180" cy="821436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217920" y="4242816"/>
            <a:ext cx="50800" cy="859536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00800" y="4288536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2C55E"/>
                </a:solidFill>
                <a:latin typeface="Calibri"/>
              </a:rPr>
              <a:t>Docker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503920" y="431596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4A3B8"/>
                </a:solidFill>
                <a:latin typeface="Calibri"/>
              </a:rPr>
              <a:t>Containerisation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00800" y="4700016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  <a:latin typeface="Calibri"/>
              </a:rPr>
              <a:t>Reproducible deployment; one-command run anywhere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20040" y="5193792"/>
            <a:ext cx="5669280" cy="859536"/>
          </a:xfrm>
          <a:prstGeom prst="rect">
            <a:avLst/>
          </a:prstGeom>
          <a:solidFill>
            <a:srgbClr val="1E253B"/>
          </a:solidFill>
          <a:ln>
            <a:solidFill>
              <a:srgbClr val="1E25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339090" y="5212842"/>
            <a:ext cx="5631180" cy="821436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320040" y="5193792"/>
            <a:ext cx="50800" cy="859536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02920" y="523951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2C55E"/>
                </a:solidFill>
                <a:latin typeface="Calibri"/>
              </a:rPr>
              <a:t>GitHub Actions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606040" y="5266944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4A3B8"/>
                </a:solidFill>
                <a:latin typeface="Calibri"/>
              </a:rPr>
              <a:t>CI/CD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02920" y="5650992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  <a:latin typeface="Calibri"/>
              </a:rPr>
              <a:t>Automated syntax + integration test on every push to main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217920" y="5193792"/>
            <a:ext cx="5669280" cy="859536"/>
          </a:xfrm>
          <a:prstGeom prst="rect">
            <a:avLst/>
          </a:prstGeom>
          <a:solidFill>
            <a:srgbClr val="1E253B"/>
          </a:solidFill>
          <a:ln>
            <a:solidFill>
              <a:srgbClr val="1E25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236970" y="5212842"/>
            <a:ext cx="5631180" cy="821436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217920" y="5193792"/>
            <a:ext cx="50800" cy="859536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400800" y="523951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2C55E"/>
                </a:solidFill>
                <a:latin typeface="Calibri"/>
              </a:rPr>
              <a:t>scikit-learn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503920" y="5266944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4A3B8"/>
                </a:solidFill>
                <a:latin typeface="Calibri"/>
              </a:rPr>
              <a:t>Utilities (optional)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400800" y="5650992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  <a:latin typeface="Calibri"/>
              </a:rPr>
              <a:t>Available for future feature; percentile normalisation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20040" y="6217920"/>
            <a:ext cx="11521440" cy="502920"/>
          </a:xfrm>
          <a:prstGeom prst="rect">
            <a:avLst/>
          </a:prstGeom>
          <a:solidFill>
            <a:srgbClr val="1E253B"/>
          </a:solidFill>
          <a:ln>
            <a:solidFill>
              <a:srgbClr val="1E25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339090" y="6236970"/>
            <a:ext cx="11483340" cy="46482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02920" y="629107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EF4444"/>
                </a:solidFill>
                <a:latin typeface="Calibri"/>
              </a:rPr>
              <a:t>❌  NOT used:  OpenAI · Gemini · Hugging Face Inference API · FAISS at runtime · any GPU · any external network call during ranking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0F1A"/>
          </a:solidFill>
          <a:ln>
            <a:solidFill>
              <a:srgbClr val="0D0F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88952" cy="38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0E7FF"/>
                </a:solidFill>
                <a:latin typeface="Calibri"/>
              </a:rPr>
              <a:t>Submission Assets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94A3B8"/>
                </a:solidFill>
                <a:latin typeface="Calibri"/>
              </a:rPr>
              <a:t>What is delivered and where to find it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389888"/>
            <a:ext cx="5669280" cy="1463040"/>
          </a:xfrm>
          <a:prstGeom prst="rect">
            <a:avLst/>
          </a:prstGeom>
          <a:solidFill>
            <a:srgbClr val="1E253B"/>
          </a:solidFill>
          <a:ln>
            <a:solidFill>
              <a:srgbClr val="1E25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39090" y="1408938"/>
            <a:ext cx="5631180" cy="142494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389888"/>
            <a:ext cx="5669280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481328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  <a:latin typeface="Calibri"/>
              </a:rPr>
              <a:t>📄 submission.csv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847088"/>
            <a:ext cx="5394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94A3B8"/>
                </a:solidFill>
                <a:latin typeface="Calibri"/>
              </a:rPr>
              <a:t>Primary deliverable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103120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  <a:latin typeface="Calibri"/>
              </a:rPr>
              <a:t>100 ranked candidates · rank · score · full reasoning string
Validated: ✅ Submission is valid.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389888"/>
            <a:ext cx="5669280" cy="1463040"/>
          </a:xfrm>
          <a:prstGeom prst="rect">
            <a:avLst/>
          </a:prstGeom>
          <a:solidFill>
            <a:srgbClr val="1E253B"/>
          </a:solidFill>
          <a:ln>
            <a:solidFill>
              <a:srgbClr val="1E25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36970" y="1408938"/>
            <a:ext cx="5631180" cy="142494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389888"/>
            <a:ext cx="5669280" cy="381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1481328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A78BFA"/>
                </a:solidFill>
                <a:latin typeface="Calibri"/>
              </a:rPr>
              <a:t>🖥  app.py + UI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1847088"/>
            <a:ext cx="5394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94A3B8"/>
                </a:solidFill>
                <a:latin typeface="Calibri"/>
              </a:rPr>
              <a:t>Interactive web app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2103120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  <a:latin typeface="Calibri"/>
              </a:rPr>
              <a:t>Upload any file → JD → Rank → Download
Streamlit dark UI with signal breakdowns per candidate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2944368"/>
            <a:ext cx="5669280" cy="1463040"/>
          </a:xfrm>
          <a:prstGeom prst="rect">
            <a:avLst/>
          </a:prstGeom>
          <a:solidFill>
            <a:srgbClr val="1E253B"/>
          </a:solidFill>
          <a:ln>
            <a:solidFill>
              <a:srgbClr val="1E25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39090" y="2963418"/>
            <a:ext cx="5631180" cy="142494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2944368"/>
            <a:ext cx="5669280" cy="381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3035808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2C55E"/>
                </a:solidFill>
                <a:latin typeface="Calibri"/>
              </a:rPr>
              <a:t>⚙️  scorer.py + rank.py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3401568"/>
            <a:ext cx="5394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94A3B8"/>
                </a:solidFill>
                <a:latin typeface="Calibri"/>
              </a:rPr>
              <a:t>CLI pipeline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3657600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  <a:latin typeface="Calibri"/>
              </a:rPr>
              <a:t>Full scoring engine for the 89K challenge dataset
Runs in ~126s on CPU · 712 candidates/second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2944368"/>
            <a:ext cx="5669280" cy="1463040"/>
          </a:xfrm>
          <a:prstGeom prst="rect">
            <a:avLst/>
          </a:prstGeom>
          <a:solidFill>
            <a:srgbClr val="1E253B"/>
          </a:solidFill>
          <a:ln>
            <a:solidFill>
              <a:srgbClr val="1E25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36970" y="2963418"/>
            <a:ext cx="5631180" cy="142494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17920" y="2944368"/>
            <a:ext cx="5669280" cy="381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55080" y="3035808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A78BFA"/>
                </a:solidFill>
                <a:latin typeface="Calibri"/>
              </a:rPr>
              <a:t>🌐  universal_parser.py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5080" y="3401568"/>
            <a:ext cx="5394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94A3B8"/>
                </a:solidFill>
                <a:latin typeface="Calibri"/>
              </a:rPr>
              <a:t>Any-format ingestor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55080" y="3657600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  <a:latin typeface="Calibri"/>
              </a:rPr>
              <a:t>Reads CSV / Excel / JSON / JSONL · Auto-detects 50+ column aliases
Google Forms compatible out of the box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4498848"/>
            <a:ext cx="5669280" cy="1463040"/>
          </a:xfrm>
          <a:prstGeom prst="rect">
            <a:avLst/>
          </a:prstGeom>
          <a:solidFill>
            <a:srgbClr val="1E253B"/>
          </a:solidFill>
          <a:ln>
            <a:solidFill>
              <a:srgbClr val="1E25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39090" y="4517898"/>
            <a:ext cx="5631180" cy="142494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20040" y="4498848"/>
            <a:ext cx="5669280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4590288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  <a:latin typeface="Calibri"/>
              </a:rPr>
              <a:t>🐳  Dockerfile + docker-compose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4956048"/>
            <a:ext cx="5394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94A3B8"/>
                </a:solidFill>
                <a:latin typeface="Calibri"/>
              </a:rPr>
              <a:t>Deployment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5212080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  <a:latin typeface="Calibri"/>
              </a:rPr>
              <a:t>docker compose up --build → live on :8501
One-command deploy anywhere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17920" y="4498848"/>
            <a:ext cx="5669280" cy="1463040"/>
          </a:xfrm>
          <a:prstGeom prst="rect">
            <a:avLst/>
          </a:prstGeom>
          <a:solidFill>
            <a:srgbClr val="1E253B"/>
          </a:solidFill>
          <a:ln>
            <a:solidFill>
              <a:srgbClr val="1E25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236970" y="4517898"/>
            <a:ext cx="5631180" cy="142494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217920" y="4498848"/>
            <a:ext cx="5669280" cy="381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55080" y="4590288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2C55E"/>
                </a:solidFill>
                <a:latin typeface="Calibri"/>
              </a:rPr>
              <a:t>🔁  .github/workflows/ci.yml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55080" y="4956048"/>
            <a:ext cx="5394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94A3B8"/>
                </a:solidFill>
                <a:latin typeface="Calibri"/>
              </a:rPr>
              <a:t>CI / CD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55080" y="5212080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  <a:latin typeface="Calibri"/>
              </a:rPr>
              <a:t>GitHub Actions · Syntax check + integration test
Passes in &lt;30 seconds on every push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20040" y="6172200"/>
            <a:ext cx="11521440" cy="457200"/>
          </a:xfrm>
          <a:prstGeom prst="rect">
            <a:avLst/>
          </a:prstGeom>
          <a:solidFill>
            <a:srgbClr val="1E253B"/>
          </a:solidFill>
          <a:ln>
            <a:solidFill>
              <a:srgbClr val="1E25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39090" y="6191250"/>
            <a:ext cx="11483340" cy="41910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02920" y="624535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A78BFA"/>
                </a:solidFill>
                <a:latin typeface="Calibri"/>
              </a:rPr>
              <a:t>🔗  GitHub:  github.com/Santhu7718/redrob-ai-ranker   |   All source code, CI badge, Docker, README, and submission.csv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